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f559900a684ba7" /><Relationship Type="http://schemas.openxmlformats.org/officeDocument/2006/relationships/extended-properties" Target="/docProps/app.xml" Id="R555058d469d04655" /><Relationship Type="http://schemas.openxmlformats.org/officeDocument/2006/relationships/officeDocument" Target="/ppt/presentation.xml" Id="R7ff93b91bd3c427d" /></Relationships>
</file>

<file path=ppt/presentation.xml><?xml version="1.0" encoding="utf-8"?>
<p:presentation xmlns:p="http://schemas.openxmlformats.org/presentationml/2006/main">
  <p:sldMasterIdLst>
    <p:sldMasterId xmlns:r="http://schemas.openxmlformats.org/officeDocument/2006/relationships" id="2147483648" r:id="R1950c94c522c49f5"/>
  </p:sldMasterIdLst>
  <p:notesMasterIdLst>
    <p:notesMasterId xmlns:r="http://schemas.openxmlformats.org/officeDocument/2006/relationships" r:id="R6420ac06aac1481c"/>
  </p:notesMasterIdLst>
  <p:sldIdLst>
    <p:sldId xmlns:r="http://schemas.openxmlformats.org/officeDocument/2006/relationships" id="256" r:id="R7211dcb92a6943c9"/>
    <p:sldId xmlns:r="http://schemas.openxmlformats.org/officeDocument/2006/relationships" id="257" r:id="R161183cf61f048ac"/>
    <p:sldId xmlns:r="http://schemas.openxmlformats.org/officeDocument/2006/relationships" id="258" r:id="Rbd24885542bd4782"/>
    <p:sldId xmlns:r="http://schemas.openxmlformats.org/officeDocument/2006/relationships" id="259" r:id="R6799f6c27a5e49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49d7cae5a8455b" /><Relationship Type="http://schemas.openxmlformats.org/officeDocument/2006/relationships/slideMaster" Target="/ppt/slideMasters/slideMaster1.xml" Id="R1950c94c522c49f5" /><Relationship Type="http://schemas.openxmlformats.org/officeDocument/2006/relationships/notesMaster" Target="/ppt/notesMasters/notesMaster1.xml" Id="R6420ac06aac1481c" /><Relationship Type="http://schemas.openxmlformats.org/officeDocument/2006/relationships/presProps" Target="/ppt/presProps.xml" Id="R17ae8bab8c624efa" /><Relationship Type="http://schemas.openxmlformats.org/officeDocument/2006/relationships/tableStyles" Target="/ppt/tableStyles.xml" Id="R4747d3dd74a3432e" /><Relationship Type="http://schemas.openxmlformats.org/officeDocument/2006/relationships/slide" Target="/ppt/slides/slide1.xml" Id="R7211dcb92a6943c9" /><Relationship Type="http://schemas.openxmlformats.org/officeDocument/2006/relationships/slide" Target="/ppt/slides/slide2.xml" Id="R161183cf61f048ac" /><Relationship Type="http://schemas.openxmlformats.org/officeDocument/2006/relationships/slide" Target="/ppt/slides/slide3.xml" Id="Rbd24885542bd4782" /><Relationship Type="http://schemas.openxmlformats.org/officeDocument/2006/relationships/slide" Target="/ppt/slides/slide4.xml" Id="R6799f6c27a5e49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9cdd2c59b44d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1a97375b69428e" /><Relationship Type="http://schemas.openxmlformats.org/officeDocument/2006/relationships/notesMaster" Target="/ppt/notesMasters/notesMaster1.xml" Id="R3b9429e9c52649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08c36e775444ec" /><Relationship Type="http://schemas.openxmlformats.org/officeDocument/2006/relationships/notesMaster" Target="/ppt/notesMasters/notesMaster1.xml" Id="Rdbf01ccbec9547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b6fe67cd644bad" /><Relationship Type="http://schemas.openxmlformats.org/officeDocument/2006/relationships/notesMaster" Target="/ppt/notesMasters/notesMaster1.xml" Id="R8fb6b34da45d47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d84e4fbe204643" /><Relationship Type="http://schemas.openxmlformats.org/officeDocument/2006/relationships/notesMaster" Target="/ppt/notesMasters/notesMaster1.xml" Id="R92fbc660606847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(about 60 seconds). Lariocidin is a recently described lasso peptide. We asked two bounded questions: whether one fixed MGnify collection adds a context-supported BGC with verified metagenomic provenance, and whether one previously chosen cross-order locus conflicts with a host-order constraint. These are operational hypotheses for this dataset, not universal claims. Sources: reviews/2026-09-10-s3-protocol.md; reviews/2026-09-11-s5-protocol.md; reviews/2026-10-08-final-synthesis.md.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(about 75 seconds). The 399 entries passed fixed quality filters but MGnify's MAG label was audited against primary BioSample metadata. We screened both catalogue representatives and 1,645,120 annotated CDS; a cyclase hit alone did not define a target BGC. Known positives and AsnB controls checked the pipeline, though they are not a natural sensitivity estimate. For HGT, 14 carriers were fixed in advance. The independent host tree used 34 ribosomal markers; AU tests compared free and order-constrained trees for B1, B2 and D. C was already compatible. Sources: reviews/2026-09-11-s3-analysis.md; reviews/2026-09-11-s5-protocol.md; results/tables/host_tree_summary.json.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discovery (about 75 seconds). Of 399 MAG-labelled records, metadata support metagenomic origin for 272, show cell culture for 75, and do not resolve 52. Fifty protein hits underwent primary curation: 37 AsnB-favoured, 10 related to other lasso families, and three with a coherent canonical BGC context. All three supported BGCs are Bacillus wiedmannii cultures, so the fixed sample adds no confirmed MAG-derived BGC. The 37 and 10 remain provisional classifications. Absence in this sample does not imply absence in nature or incomplete MAGs. Source: reviews/2026-09-11-s3-analysis.md; results/tables/maize_checkpoint_summary.json; results/figures/s3_search_checkpoint.png.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and conclusion (about 90 seconds). The host tree robustly separates the two orders. B1, B2 and D appear visually discordant, but the order-constrained alternatives are not rejected by AU tests; Holm correction likewise gives no rejection. The free C tree already meets the order constraint, so it has no measured AU p. C and D fail composition checks for 13 of 14 taxa; B1 and B2 are short after trimming. A targeted DNA audit confirmed every published A–D protein is encoded in its assigned assembly, including two proteins that use TTG alternative starts. We therefore did not support HGT, but cannot prove vertical inheritance. The fixed MAG result likewise does not prove natural absence. This is the planned stopping point. Sources: results/tables/hgt_topology_tests.tsv; results/tables/host_tree_summary.json; results/tables/carrier_bgc_dna_validation.tsv; reviews/2026-10-08-final-synthesis.md.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bd749625ed4e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03bdd45dce49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3d1ba744e948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786df7cc38c43d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46fdf587a940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603b96b4224c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79E214-B417-4CA4-99DB-2EDACB1C7E3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BF8921-A806-40B7-AA98-5F7709A7BFA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6081FB-A324-4AFB-B7D9-23A48B6C9B3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09A809-670C-4B35-91E0-DD1212855C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B9F8A6-4352-40CA-A8DB-F7EBD968913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DF6173-78B2-4791-B897-9DAF85E19E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405AB4-581D-4B98-ABF1-A09D4A4DD1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75D182-4A69-46A6-9415-FD400B6718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57F854-52D1-4B89-89F3-205F729B32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A4B1FB-A505-452C-AE44-6EC508743A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f705f2d9664b42" /><Relationship Type="http://schemas.openxmlformats.org/officeDocument/2006/relationships/slideLayout" Target="/ppt/slideLayouts/slideLayout1.xml" Id="Rcd7cf1188d454c83" /><Relationship Type="http://schemas.openxmlformats.org/officeDocument/2006/relationships/slideLayout" Target="/ppt/slideLayouts/slideLayout2.xml" Id="Rfe68deafbb774598" /><Relationship Type="http://schemas.openxmlformats.org/officeDocument/2006/relationships/slideLayout" Target="/ppt/slideLayouts/slideLayout3.xml" Id="R39abc3cfc57b44f7" /><Relationship Type="http://schemas.openxmlformats.org/officeDocument/2006/relationships/slideLayout" Target="/ppt/slideLayouts/slideLayout4.xml" Id="R98aa987daa12467f" /><Relationship Type="http://schemas.openxmlformats.org/officeDocument/2006/relationships/slideLayout" Target="/ppt/slideLayouts/slideLayout5.xml" Id="R78c90b875461497c" /><Relationship Type="http://schemas.openxmlformats.org/officeDocument/2006/relationships/slideLayout" Target="/ppt/slideLayouts/slideLayout6.xml" Id="R3629c049dffa40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7cf1188d454c83"/>
    <p:sldLayoutId xmlns:r="http://schemas.openxmlformats.org/officeDocument/2006/relationships" id="2147483650" r:id="Rfe68deafbb774598"/>
    <p:sldLayoutId xmlns:r="http://schemas.openxmlformats.org/officeDocument/2006/relationships" id="2147483651" r:id="R39abc3cfc57b44f7"/>
    <p:sldLayoutId xmlns:r="http://schemas.openxmlformats.org/officeDocument/2006/relationships" id="2147483652" r:id="R98aa987daa12467f"/>
    <p:sldLayoutId xmlns:r="http://schemas.openxmlformats.org/officeDocument/2006/relationships" id="2147483653" r:id="R78c90b875461497c"/>
    <p:sldLayoutId xmlns:r="http://schemas.openxmlformats.org/officeDocument/2006/relationships" id="2147483654" r:id="R3629c049dffa40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4764b17198c4477" /><Relationship Type="http://schemas.openxmlformats.org/officeDocument/2006/relationships/notesSlide" Target="/ppt/notesSlides/notesSlide1.xml" Id="Rbdead9bb8df84c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d1ae1f8830342c8" /><Relationship Type="http://schemas.openxmlformats.org/officeDocument/2006/relationships/notesSlide" Target="/ppt/notesSlides/notesSlide2.xml" Id="Rdce4492894494e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e90ad5f55a452d" /><Relationship Type="http://schemas.openxmlformats.org/officeDocument/2006/relationships/image" Target="/ppt/media/image.png" Id="R946fd6dbf63141d8" /><Relationship Type="http://schemas.openxmlformats.org/officeDocument/2006/relationships/notesSlide" Target="/ppt/notesSlides/notesSlide3.xml" Id="R436c4c490a9e43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7fe3992ba094a68" /><Relationship Type="http://schemas.openxmlformats.org/officeDocument/2006/relationships/notesSlide" Target="/ppt/notesSlides/notesSlide4.xml" Id="R5ce3eb137cfb4bb9" /></Relationships>
</file>

<file path=ppt/slides/slide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title-1">
            <a:extLst xmlns:a="http://schemas.openxmlformats.org/drawingml/2006/main">
              <a:ext uri="{FF2B5EF4-FFF2-40B4-BE49-F238E27FC236}">
                <a16:creationId xmlns:a16="http://schemas.microsoft.com/office/drawing/2014/main" id="{2F14AE9D-6A89-4620-92C7-A109976A63D3}"/>
              </a:ext>
            </a:extLst>
          </p:cNvPr>
          <p:cNvSpPr>
            <a:spLocks xmlns:a="http://schemas.openxmlformats.org/drawingml/2006/main" noGrp="1"/>
          </p:cNvSpPr>
          <p:nvPr/>
        </p:nvSpPr>
        <p:spPr>
          <a:xfrm xmlns:a="http://schemas.openxmlformats.org/drawingml/2006/main">
            <a:off x="590550" y="457200"/>
            <a:ext cx="11001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75" b="1">
                <a:solidFill>
                  <a:srgbClr val="17324D"/>
                </a:solidFill>
                <a:latin typeface="Arial"/>
                <a:ea typeface="Arial"/>
                <a:cs typeface="Arial"/>
              </a:defRPr>
            </a:defPPr>
          </a:lstStyle>
          <a:p xmlns:a="http://schemas.openxmlformats.org/drawingml/2006/main">
            <a:pPr>
              <a:defRPr sz="2775" b="1">
                <a:solidFill>
                  <a:srgbClr val="17324D"/>
                </a:solidFill>
                <a:latin typeface="Arial"/>
                <a:ea typeface="Arial"/>
                <a:cs typeface="Arial"/>
              </a:defRPr>
            </a:pPr>
            <a:r>
              <a:rPr sz="2775" b="1">
                <a:solidFill>
                  <a:srgbClr val="17324D"/>
                </a:solidFill>
                <a:latin typeface="Arial"/>
                <a:ea typeface="Arial"/>
                <a:cs typeface="Arial"/>
              </a:rPr>
              <a:t>Lariocidin-like BGCs in public genomes and MAGs</a:t>
            </a:r>
          </a:p>
        </p:txBody>
      </p:sp>
      <p:sp>
        <p:nvSpPr>
          <p:cNvPr id="2" name="number-1">
            <a:extLst xmlns:a="http://schemas.openxmlformats.org/drawingml/2006/main">
              <a:ext uri="{FF2B5EF4-FFF2-40B4-BE49-F238E27FC236}">
                <a16:creationId xmlns:a16="http://schemas.microsoft.com/office/drawing/2014/main" id="{5C979B22-79D3-427F-B6A0-6F42A699E64E}"/>
              </a:ext>
            </a:extLst>
          </p:cNvPr>
          <p:cNvSpPr>
            <a:spLocks xmlns:a="http://schemas.openxmlformats.org/drawingml/2006/main" noGrp="1"/>
          </p:cNvSpPr>
          <p:nvPr/>
        </p:nvSpPr>
        <p:spPr>
          <a:xfrm xmlns:a="http://schemas.openxmlformats.org/drawingml/2006/main">
            <a:off x="10858500" y="64389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0">
                <a:solidFill>
                  <a:srgbClr val="70818B"/>
                </a:solidFill>
                <a:latin typeface="Arial"/>
                <a:ea typeface="Arial"/>
                <a:cs typeface="Arial"/>
              </a:defRPr>
            </a:defPPr>
          </a:lstStyle>
          <a:p xmlns:a="http://schemas.openxmlformats.org/drawingml/2006/main">
            <a:pPr>
              <a:defRPr sz="1050" b="0">
                <a:solidFill>
                  <a:srgbClr val="70818B"/>
                </a:solidFill>
                <a:latin typeface="Arial"/>
                <a:ea typeface="Arial"/>
                <a:cs typeface="Arial"/>
              </a:defRPr>
            </a:pPr>
            <a:r>
              <a:rPr sz="1050" b="0">
                <a:solidFill>
                  <a:srgbClr val="70818B"/>
                </a:solidFill>
                <a:latin typeface="Arial"/>
                <a:ea typeface="Arial"/>
                <a:cs typeface="Arial"/>
              </a:rPr>
              <a:t>1 / 4</a:t>
            </a:r>
          </a:p>
        </p:txBody>
      </p:sp>
      <p:sp>
        <p:nvSpPr>
          <p:cNvPr id="3" name="question">
            <a:extLst xmlns:a="http://schemas.openxmlformats.org/drawingml/2006/main">
              <a:ext uri="{FF2B5EF4-FFF2-40B4-BE49-F238E27FC236}">
                <a16:creationId xmlns:a16="http://schemas.microsoft.com/office/drawing/2014/main" id="{2477AB07-5C1E-486D-9145-D5C1659CAC1A}"/>
              </a:ext>
            </a:extLst>
          </p:cNvPr>
          <p:cNvSpPr>
            <a:spLocks xmlns:a="http://schemas.openxmlformats.org/drawingml/2006/main" noGrp="1"/>
          </p:cNvSpPr>
          <p:nvPr/>
        </p:nvSpPr>
        <p:spPr>
          <a:xfrm xmlns:a="http://schemas.openxmlformats.org/drawingml/2006/main">
            <a:off x="590550" y="160972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17324D"/>
                </a:solidFill>
                <a:latin typeface="Arial"/>
                <a:ea typeface="Arial"/>
                <a:cs typeface="Arial"/>
              </a:defRPr>
            </a:defPPr>
          </a:lstStyle>
          <a:p xmlns:a="http://schemas.openxmlformats.org/drawingml/2006/main">
            <a:pPr>
              <a:defRPr sz="2325" b="0">
                <a:solidFill>
                  <a:srgbClr val="17324D"/>
                </a:solidFill>
                <a:latin typeface="Arial"/>
                <a:ea typeface="Arial"/>
                <a:cs typeface="Arial"/>
              </a:defRPr>
            </a:pPr>
            <a:r>
              <a:rPr sz="2325" b="0">
                <a:solidFill>
                  <a:srgbClr val="17324D"/>
                </a:solidFill>
                <a:latin typeface="Arial"/>
                <a:ea typeface="Arial"/>
                <a:cs typeface="Arial"/>
              </a:rPr>
              <a:t>Do we find additional supported clusters in a fixed MAG collection?</a:t>
            </a:r>
          </a:p>
        </p:txBody>
      </p:sp>
      <p:sp>
        <p:nvSpPr>
          <p:cNvPr id="4" name="secondary">
            <a:extLst xmlns:a="http://schemas.openxmlformats.org/drawingml/2006/main">
              <a:ext uri="{FF2B5EF4-FFF2-40B4-BE49-F238E27FC236}">
                <a16:creationId xmlns:a16="http://schemas.microsoft.com/office/drawing/2014/main" id="{7D5D5CEA-A222-4EF7-9CDE-F4CEE3A66722}"/>
              </a:ext>
            </a:extLst>
          </p:cNvPr>
          <p:cNvSpPr>
            <a:spLocks xmlns:a="http://schemas.openxmlformats.org/drawingml/2006/main" noGrp="1"/>
          </p:cNvSpPr>
          <p:nvPr/>
        </p:nvSpPr>
        <p:spPr>
          <a:xfrm xmlns:a="http://schemas.openxmlformats.org/drawingml/2006/main">
            <a:off x="590550" y="2809875"/>
            <a:ext cx="1038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17324D"/>
                </a:solidFill>
                <a:latin typeface="Arial"/>
                <a:ea typeface="Arial"/>
                <a:cs typeface="Arial"/>
              </a:defRPr>
            </a:defPPr>
          </a:lstStyle>
          <a:p xmlns:a="http://schemas.openxmlformats.org/drawingml/2006/main">
            <a:pPr>
              <a:defRPr sz="2325" b="0">
                <a:solidFill>
                  <a:srgbClr val="17324D"/>
                </a:solidFill>
                <a:latin typeface="Arial"/>
                <a:ea typeface="Arial"/>
                <a:cs typeface="Arial"/>
              </a:defRPr>
            </a:pPr>
            <a:r>
              <a:rPr sz="2325" b="0">
                <a:solidFill>
                  <a:srgbClr val="17324D"/>
                </a:solidFill>
                <a:latin typeface="Arial"/>
                <a:ea typeface="Arial"/>
                <a:cs typeface="Arial"/>
              </a:rPr>
              <a:t>Does one cross-order locus reject the host-order split?</a:t>
            </a:r>
          </a:p>
        </p:txBody>
      </p:sp>
      <p:sp>
        <p:nvSpPr>
          <p:cNvPr id="5" name="scope">
            <a:extLst xmlns:a="http://schemas.openxmlformats.org/drawingml/2006/main">
              <a:ext uri="{FF2B5EF4-FFF2-40B4-BE49-F238E27FC236}">
                <a16:creationId xmlns:a16="http://schemas.microsoft.com/office/drawing/2014/main" id="{4F239DBB-92C1-4D98-8C24-EADF9686FE6F}"/>
              </a:ext>
            </a:extLst>
          </p:cNvPr>
          <p:cNvSpPr>
            <a:spLocks xmlns:a="http://schemas.openxmlformats.org/drawingml/2006/main" noGrp="1"/>
          </p:cNvSpPr>
          <p:nvPr/>
        </p:nvSpPr>
        <p:spPr>
          <a:xfrm xmlns:a="http://schemas.openxmlformats.org/drawingml/2006/main">
            <a:off x="590550" y="4476750"/>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187D8F"/>
                </a:solidFill>
                <a:latin typeface="Arial"/>
                <a:ea typeface="Arial"/>
                <a:cs typeface="Arial"/>
              </a:defRPr>
            </a:defPPr>
          </a:lstStyle>
          <a:p xmlns:a="http://schemas.openxmlformats.org/drawingml/2006/main">
            <a:pPr>
              <a:defRPr sz="1725" b="0">
                <a:solidFill>
                  <a:srgbClr val="187D8F"/>
                </a:solidFill>
                <a:latin typeface="Arial"/>
                <a:ea typeface="Arial"/>
                <a:cs typeface="Arial"/>
              </a:defRPr>
            </a:pPr>
            <a:r>
              <a:rPr sz="1725" b="0">
                <a:solidFill>
                  <a:srgbClr val="187D8F"/>
                </a:solidFill>
                <a:latin typeface="Arial"/>
                <a:ea typeface="Arial"/>
                <a:cs typeface="Arial"/>
              </a:rPr>
              <a:t>One catalogue · one focal HGT case · prespecified stopping rule</a:t>
            </a:r>
          </a:p>
        </p:txBody>
      </p:sp>
      <p:sp>
        <p:nvSpPr>
          <p:cNvPr id="6" name="hypotheses">
            <a:extLst xmlns:a="http://schemas.openxmlformats.org/drawingml/2006/main">
              <a:ext uri="{FF2B5EF4-FFF2-40B4-BE49-F238E27FC236}">
                <a16:creationId xmlns:a16="http://schemas.microsoft.com/office/drawing/2014/main" id="{B1ED5CE5-0C3B-4AE6-BA12-8EB159A5DE2B}"/>
              </a:ext>
            </a:extLst>
          </p:cNvPr>
          <p:cNvSpPr>
            <a:spLocks xmlns:a="http://schemas.openxmlformats.org/drawingml/2006/main" noGrp="1"/>
          </p:cNvSpPr>
          <p:nvPr/>
        </p:nvSpPr>
        <p:spPr>
          <a:xfrm xmlns:a="http://schemas.openxmlformats.org/drawingml/2006/main">
            <a:off x="590550" y="5276850"/>
            <a:ext cx="1047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3C5367"/>
                </a:solidFill>
                <a:latin typeface="Arial"/>
                <a:ea typeface="Arial"/>
                <a:cs typeface="Arial"/>
              </a:defRPr>
            </a:defPPr>
          </a:lstStyle>
          <a:p xmlns:a="http://schemas.openxmlformats.org/drawingml/2006/main">
            <a:pPr>
              <a:defRPr sz="1575" b="0">
                <a:solidFill>
                  <a:srgbClr val="3C5367"/>
                </a:solidFill>
                <a:latin typeface="Arial"/>
                <a:ea typeface="Arial"/>
                <a:cs typeface="Arial"/>
              </a:defRPr>
            </a:pPr>
            <a:r>
              <a:rPr sz="1575" b="0">
                <a:solidFill>
                  <a:srgbClr val="3C5367"/>
                </a:solidFill>
                <a:latin typeface="Arial"/>
                <a:ea typeface="Arial"/>
                <a:cs typeface="Arial"/>
              </a:rPr>
              <a:t>H₀: no additional supported MAG BGC; BGC-gene trees remain compatible with the host-order split.</a:t>
            </a:r>
          </a:p>
        </p:txBody>
      </p:sp>
    </p:spTree>
    <p:extLst>
      <p:ext uri="{BB962C8B-B14F-4D97-AF65-F5344CB8AC3E}">
        <p14:creationId xmlns:p14="http://schemas.microsoft.com/office/powerpoint/2010/main" val="1379208650"/>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itle-2">
            <a:extLst xmlns:a="http://schemas.openxmlformats.org/drawingml/2006/main">
              <a:ext uri="{FF2B5EF4-FFF2-40B4-BE49-F238E27FC236}">
                <a16:creationId xmlns:a16="http://schemas.microsoft.com/office/drawing/2014/main" id="{AD7D7BE4-056D-4EE6-ACD2-27C3833D04C6}"/>
              </a:ext>
            </a:extLst>
          </p:cNvPr>
          <p:cNvSpPr>
            <a:spLocks xmlns:a="http://schemas.openxmlformats.org/drawingml/2006/main" noGrp="1"/>
          </p:cNvSpPr>
          <p:nvPr/>
        </p:nvSpPr>
        <p:spPr>
          <a:xfrm xmlns:a="http://schemas.openxmlformats.org/drawingml/2006/main">
            <a:off x="590550" y="457200"/>
            <a:ext cx="11001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75" b="1">
                <a:solidFill>
                  <a:srgbClr val="17324D"/>
                </a:solidFill>
                <a:latin typeface="Arial"/>
                <a:ea typeface="Arial"/>
                <a:cs typeface="Arial"/>
              </a:defRPr>
            </a:defPPr>
          </a:lstStyle>
          <a:p xmlns:a="http://schemas.openxmlformats.org/drawingml/2006/main">
            <a:pPr>
              <a:defRPr sz="2775" b="1">
                <a:solidFill>
                  <a:srgbClr val="17324D"/>
                </a:solidFill>
                <a:latin typeface="Arial"/>
                <a:ea typeface="Arial"/>
                <a:cs typeface="Arial"/>
              </a:defRPr>
            </a:pPr>
            <a:r>
              <a:rPr sz="2775" b="1">
                <a:solidFill>
                  <a:srgbClr val="17324D"/>
                </a:solidFill>
                <a:latin typeface="Arial"/>
                <a:ea typeface="Arial"/>
                <a:cs typeface="Arial"/>
              </a:rPr>
              <a:t>Methods and controls</a:t>
            </a:r>
          </a:p>
        </p:txBody>
      </p:sp>
      <p:sp>
        <p:nvSpPr>
          <p:cNvPr id="2" name="number-2">
            <a:extLst xmlns:a="http://schemas.openxmlformats.org/drawingml/2006/main">
              <a:ext uri="{FF2B5EF4-FFF2-40B4-BE49-F238E27FC236}">
                <a16:creationId xmlns:a16="http://schemas.microsoft.com/office/drawing/2014/main" id="{3020C77A-099D-4F36-B795-2EDF2AB95AF9}"/>
              </a:ext>
            </a:extLst>
          </p:cNvPr>
          <p:cNvSpPr>
            <a:spLocks xmlns:a="http://schemas.openxmlformats.org/drawingml/2006/main" noGrp="1"/>
          </p:cNvSpPr>
          <p:nvPr/>
        </p:nvSpPr>
        <p:spPr>
          <a:xfrm xmlns:a="http://schemas.openxmlformats.org/drawingml/2006/main">
            <a:off x="10858500" y="64389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0">
                <a:solidFill>
                  <a:srgbClr val="70818B"/>
                </a:solidFill>
                <a:latin typeface="Arial"/>
                <a:ea typeface="Arial"/>
                <a:cs typeface="Arial"/>
              </a:defRPr>
            </a:defPPr>
          </a:lstStyle>
          <a:p xmlns:a="http://schemas.openxmlformats.org/drawingml/2006/main">
            <a:pPr>
              <a:defRPr sz="1050" b="0">
                <a:solidFill>
                  <a:srgbClr val="70818B"/>
                </a:solidFill>
                <a:latin typeface="Arial"/>
                <a:ea typeface="Arial"/>
                <a:cs typeface="Arial"/>
              </a:defRPr>
            </a:pPr>
            <a:r>
              <a:rPr sz="1050" b="0">
                <a:solidFill>
                  <a:srgbClr val="70818B"/>
                </a:solidFill>
                <a:latin typeface="Arial"/>
                <a:ea typeface="Arial"/>
                <a:cs typeface="Arial"/>
              </a:rPr>
              <a:t>2 / 4</a:t>
            </a:r>
          </a:p>
        </p:txBody>
      </p:sp>
      <p:sp>
        <p:nvSpPr>
          <p:cNvPr id="3" name="search-heading">
            <a:extLst xmlns:a="http://schemas.openxmlformats.org/drawingml/2006/main">
              <a:ext uri="{FF2B5EF4-FFF2-40B4-BE49-F238E27FC236}">
                <a16:creationId xmlns:a16="http://schemas.microsoft.com/office/drawing/2014/main" id="{C601D909-9392-4104-85EE-781AA78CCF11}"/>
              </a:ext>
            </a:extLst>
          </p:cNvPr>
          <p:cNvSpPr>
            <a:spLocks xmlns:a="http://schemas.openxmlformats.org/drawingml/2006/main" noGrp="1"/>
          </p:cNvSpPr>
          <p:nvPr/>
        </p:nvSpPr>
        <p:spPr>
          <a:xfrm xmlns:a="http://schemas.openxmlformats.org/drawingml/2006/main">
            <a:off x="590550" y="1495425"/>
            <a:ext cx="4857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87D8F"/>
                </a:solidFill>
                <a:latin typeface="Arial"/>
                <a:ea typeface="Arial"/>
                <a:cs typeface="Arial"/>
              </a:defRPr>
            </a:defPPr>
          </a:lstStyle>
          <a:p xmlns:a="http://schemas.openxmlformats.org/drawingml/2006/main">
            <a:pPr>
              <a:defRPr sz="2025" b="1">
                <a:solidFill>
                  <a:srgbClr val="187D8F"/>
                </a:solidFill>
                <a:latin typeface="Arial"/>
                <a:ea typeface="Arial"/>
                <a:cs typeface="Arial"/>
              </a:defRPr>
            </a:pPr>
            <a:r>
              <a:rPr sz="2025" b="1">
                <a:solidFill>
                  <a:srgbClr val="187D8F"/>
                </a:solidFill>
                <a:latin typeface="Arial"/>
                <a:ea typeface="Arial"/>
                <a:cs typeface="Arial"/>
              </a:rPr>
              <a:t>Fixed discovery search</a:t>
            </a:r>
          </a:p>
        </p:txBody>
      </p:sp>
      <p:sp>
        <p:nvSpPr>
          <p:cNvPr id="4" name="search-body">
            <a:extLst xmlns:a="http://schemas.openxmlformats.org/drawingml/2006/main">
              <a:ext uri="{FF2B5EF4-FFF2-40B4-BE49-F238E27FC236}">
                <a16:creationId xmlns:a16="http://schemas.microsoft.com/office/drawing/2014/main" id="{59A86712-3EC2-4D33-AF18-E50E439D6DE4}"/>
              </a:ext>
            </a:extLst>
          </p:cNvPr>
          <p:cNvSpPr>
            <a:spLocks xmlns:a="http://schemas.openxmlformats.org/drawingml/2006/main" noGrp="1"/>
          </p:cNvSpPr>
          <p:nvPr/>
        </p:nvSpPr>
        <p:spPr>
          <a:xfrm xmlns:a="http://schemas.openxmlformats.org/drawingml/2006/main">
            <a:off x="590550" y="2143125"/>
            <a:ext cx="5191125"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399 MGnify records labelled MAG</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BioSample audit of sample origin</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HMM screen of catalogue proteins and GFF-CDS</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BGC context required for a family call</a:t>
            </a:r>
          </a:p>
        </p:txBody>
      </p:sp>
      <p:sp>
        <p:nvSpPr>
          <p:cNvPr id="5" name="search-control">
            <a:extLst xmlns:a="http://schemas.openxmlformats.org/drawingml/2006/main">
              <a:ext uri="{FF2B5EF4-FFF2-40B4-BE49-F238E27FC236}">
                <a16:creationId xmlns:a16="http://schemas.microsoft.com/office/drawing/2014/main" id="{16F6A0B4-6513-48D9-B679-FF0729F564BF}"/>
              </a:ext>
            </a:extLst>
          </p:cNvPr>
          <p:cNvSpPr>
            <a:spLocks xmlns:a="http://schemas.openxmlformats.org/drawingml/2006/main" noGrp="1"/>
          </p:cNvSpPr>
          <p:nvPr/>
        </p:nvSpPr>
        <p:spPr>
          <a:xfrm xmlns:a="http://schemas.openxmlformats.org/drawingml/2006/main">
            <a:off x="590550" y="4924425"/>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3C5367"/>
                </a:solidFill>
                <a:latin typeface="Arial"/>
                <a:ea typeface="Arial"/>
                <a:cs typeface="Arial"/>
              </a:defRPr>
            </a:defPPr>
          </a:lstStyle>
          <a:p xmlns:a="http://schemas.openxmlformats.org/drawingml/2006/main">
            <a:pPr>
              <a:defRPr sz="1500" b="0">
                <a:solidFill>
                  <a:srgbClr val="3C5367"/>
                </a:solidFill>
                <a:latin typeface="Arial"/>
                <a:ea typeface="Arial"/>
                <a:cs typeface="Arial"/>
              </a:defRPr>
            </a:pPr>
            <a:r>
              <a:rPr sz="1500" b="0">
                <a:solidFill>
                  <a:srgbClr val="3C5367"/>
                </a:solidFill>
                <a:latin typeface="Arial"/>
                <a:ea typeface="Arial"/>
                <a:cs typeface="Arial"/>
              </a:rPr>
              <a:t>Controls: 227/227 known full-length C proteins found; 0/5 reviewed AsnB passed.</a:t>
            </a:r>
          </a:p>
        </p:txBody>
      </p:sp>
      <p:sp>
        <p:nvSpPr>
          <p:cNvPr id="6" name="hgt-heading">
            <a:extLst xmlns:a="http://schemas.openxmlformats.org/drawingml/2006/main">
              <a:ext uri="{FF2B5EF4-FFF2-40B4-BE49-F238E27FC236}">
                <a16:creationId xmlns:a16="http://schemas.microsoft.com/office/drawing/2014/main" id="{6E329B7E-0DFA-43EF-851D-F7E211AAAA77}"/>
              </a:ext>
            </a:extLst>
          </p:cNvPr>
          <p:cNvSpPr>
            <a:spLocks xmlns:a="http://schemas.openxmlformats.org/drawingml/2006/main" noGrp="1"/>
          </p:cNvSpPr>
          <p:nvPr/>
        </p:nvSpPr>
        <p:spPr>
          <a:xfrm xmlns:a="http://schemas.openxmlformats.org/drawingml/2006/main">
            <a:off x="6477000" y="1495425"/>
            <a:ext cx="5000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87D8F"/>
                </a:solidFill>
                <a:latin typeface="Arial"/>
                <a:ea typeface="Arial"/>
                <a:cs typeface="Arial"/>
              </a:defRPr>
            </a:defPPr>
          </a:lstStyle>
          <a:p xmlns:a="http://schemas.openxmlformats.org/drawingml/2006/main">
            <a:pPr>
              <a:defRPr sz="2025" b="1">
                <a:solidFill>
                  <a:srgbClr val="187D8F"/>
                </a:solidFill>
                <a:latin typeface="Arial"/>
                <a:ea typeface="Arial"/>
                <a:cs typeface="Arial"/>
              </a:defRPr>
            </a:pPr>
            <a:r>
              <a:rPr sz="2025" b="1">
                <a:solidFill>
                  <a:srgbClr val="187D8F"/>
                </a:solidFill>
                <a:latin typeface="Arial"/>
                <a:ea typeface="Arial"/>
                <a:cs typeface="Arial"/>
              </a:rPr>
              <a:t>Focal HGT test</a:t>
            </a:r>
          </a:p>
        </p:txBody>
      </p:sp>
      <p:sp>
        <p:nvSpPr>
          <p:cNvPr id="7" name="hgt-body">
            <a:extLst xmlns:a="http://schemas.openxmlformats.org/drawingml/2006/main">
              <a:ext uri="{FF2B5EF4-FFF2-40B4-BE49-F238E27FC236}">
                <a16:creationId xmlns:a16="http://schemas.microsoft.com/office/drawing/2014/main" id="{3A03A075-4112-4B2F-87F8-35613FC23C1D}"/>
              </a:ext>
            </a:extLst>
          </p:cNvPr>
          <p:cNvSpPr>
            <a:spLocks xmlns:a="http://schemas.openxmlformats.org/drawingml/2006/main" noGrp="1"/>
          </p:cNvSpPr>
          <p:nvPr/>
        </p:nvSpPr>
        <p:spPr>
          <a:xfrm xmlns:a="http://schemas.openxmlformats.org/drawingml/2006/main">
            <a:off x="6477000" y="2143125"/>
            <a:ext cx="5000625"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14 published BGC carriers</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Host tree: 21 genomes, 34 ribosomal markers</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B1/B2/C/D gene trees</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AU test versus host-order constraint</a:t>
            </a:r>
          </a:p>
        </p:txBody>
      </p:sp>
      <p:sp>
        <p:nvSpPr>
          <p:cNvPr id="8" name="hgt-control">
            <a:extLst xmlns:a="http://schemas.openxmlformats.org/drawingml/2006/main">
              <a:ext uri="{FF2B5EF4-FFF2-40B4-BE49-F238E27FC236}">
                <a16:creationId xmlns:a16="http://schemas.microsoft.com/office/drawing/2014/main" id="{5D274A4D-6AB4-4041-84B7-10337E80906E}"/>
              </a:ext>
            </a:extLst>
          </p:cNvPr>
          <p:cNvSpPr>
            <a:spLocks xmlns:a="http://schemas.openxmlformats.org/drawingml/2006/main" noGrp="1"/>
          </p:cNvSpPr>
          <p:nvPr/>
        </p:nvSpPr>
        <p:spPr>
          <a:xfrm xmlns:a="http://schemas.openxmlformats.org/drawingml/2006/main">
            <a:off x="6477000" y="4924425"/>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3C5367"/>
                </a:solidFill>
                <a:latin typeface="Arial"/>
                <a:ea typeface="Arial"/>
                <a:cs typeface="Arial"/>
              </a:defRPr>
            </a:defPPr>
          </a:lstStyle>
          <a:p xmlns:a="http://schemas.openxmlformats.org/drawingml/2006/main">
            <a:pPr>
              <a:defRPr sz="1500" b="0">
                <a:solidFill>
                  <a:srgbClr val="3C5367"/>
                </a:solidFill>
                <a:latin typeface="Arial"/>
                <a:ea typeface="Arial"/>
                <a:cs typeface="Arial"/>
              </a:defRPr>
            </a:pPr>
            <a:r>
              <a:rPr sz="1500" b="0">
                <a:solidFill>
                  <a:srgbClr val="3C5367"/>
                </a:solidFill>
                <a:latin typeface="Arial"/>
                <a:ea typeface="Arial"/>
                <a:cs typeface="Arial"/>
              </a:rPr>
              <a:t>Four linked genes are one locus, not four independent transfer events.</a:t>
            </a:r>
          </a:p>
        </p:txBody>
      </p:sp>
    </p:spTree>
    <p:extLst>
      <p:ext uri="{BB962C8B-B14F-4D97-AF65-F5344CB8AC3E}">
        <p14:creationId xmlns:p14="http://schemas.microsoft.com/office/powerpoint/2010/main" val="1150686341"/>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title-3">
            <a:extLst xmlns:a="http://schemas.openxmlformats.org/drawingml/2006/main">
              <a:ext uri="{FF2B5EF4-FFF2-40B4-BE49-F238E27FC236}">
                <a16:creationId xmlns:a16="http://schemas.microsoft.com/office/drawing/2014/main" id="{9AE740C0-3D38-4955-9D90-B01FC954F0C0}"/>
              </a:ext>
            </a:extLst>
          </p:cNvPr>
          <p:cNvSpPr>
            <a:spLocks xmlns:a="http://schemas.openxmlformats.org/drawingml/2006/main" noGrp="1"/>
          </p:cNvSpPr>
          <p:nvPr/>
        </p:nvSpPr>
        <p:spPr>
          <a:xfrm xmlns:a="http://schemas.openxmlformats.org/drawingml/2006/main">
            <a:off x="590550" y="457200"/>
            <a:ext cx="11001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75" b="1">
                <a:solidFill>
                  <a:srgbClr val="17324D"/>
                </a:solidFill>
                <a:latin typeface="Arial"/>
                <a:ea typeface="Arial"/>
                <a:cs typeface="Arial"/>
              </a:defRPr>
            </a:defPPr>
          </a:lstStyle>
          <a:p xmlns:a="http://schemas.openxmlformats.org/drawingml/2006/main">
            <a:pPr>
              <a:defRPr sz="2775" b="1">
                <a:solidFill>
                  <a:srgbClr val="17324D"/>
                </a:solidFill>
                <a:latin typeface="Arial"/>
                <a:ea typeface="Arial"/>
                <a:cs typeface="Arial"/>
              </a:defRPr>
            </a:pPr>
            <a:r>
              <a:rPr sz="2775" b="1">
                <a:solidFill>
                  <a:srgbClr val="17324D"/>
                </a:solidFill>
                <a:latin typeface="Arial"/>
                <a:ea typeface="Arial"/>
                <a:cs typeface="Arial"/>
              </a:rPr>
              <a:t>Search result: no supported MAG cluster</a:t>
            </a:r>
          </a:p>
        </p:txBody>
      </p:sp>
      <p:sp>
        <p:nvSpPr>
          <p:cNvPr id="2" name="number-3">
            <a:extLst xmlns:a="http://schemas.openxmlformats.org/drawingml/2006/main">
              <a:ext uri="{FF2B5EF4-FFF2-40B4-BE49-F238E27FC236}">
                <a16:creationId xmlns:a16="http://schemas.microsoft.com/office/drawing/2014/main" id="{40398164-7545-4558-B67F-BE843DAC542D}"/>
              </a:ext>
            </a:extLst>
          </p:cNvPr>
          <p:cNvSpPr>
            <a:spLocks xmlns:a="http://schemas.openxmlformats.org/drawingml/2006/main" noGrp="1"/>
          </p:cNvSpPr>
          <p:nvPr/>
        </p:nvSpPr>
        <p:spPr>
          <a:xfrm xmlns:a="http://schemas.openxmlformats.org/drawingml/2006/main">
            <a:off x="10858500" y="64389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0">
                <a:solidFill>
                  <a:srgbClr val="70818B"/>
                </a:solidFill>
                <a:latin typeface="Arial"/>
                <a:ea typeface="Arial"/>
                <a:cs typeface="Arial"/>
              </a:defRPr>
            </a:defPPr>
          </a:lstStyle>
          <a:p xmlns:a="http://schemas.openxmlformats.org/drawingml/2006/main">
            <a:pPr>
              <a:defRPr sz="1050" b="0">
                <a:solidFill>
                  <a:srgbClr val="70818B"/>
                </a:solidFill>
                <a:latin typeface="Arial"/>
                <a:ea typeface="Arial"/>
                <a:cs typeface="Arial"/>
              </a:defRPr>
            </a:pPr>
            <a:r>
              <a:rPr sz="1050" b="0">
                <a:solidFill>
                  <a:srgbClr val="70818B"/>
                </a:solidFill>
                <a:latin typeface="Arial"/>
                <a:ea typeface="Arial"/>
                <a:cs typeface="Arial"/>
              </a:rPr>
              <a:t>3 / 4</a:t>
            </a:r>
          </a:p>
        </p:txBody>
      </p:sp>
      <p:pic>
        <p:nvPicPr>
          <p:cNvPr id="3" name="">
            <a:extLst xmlns:a="http://schemas.openxmlformats.org/drawingml/2006/main">
              <a:ext uri="{FF2B5EF4-FFF2-40B4-BE49-F238E27FC236}">
                <a16:creationId xmlns:a16="http://schemas.microsoft.com/office/drawing/2014/main" id="{D0A7E8E1-BC47-4D82-802B-720993D44BFB}"/>
              </a:ext>
            </a:extLst>
          </p:cNvPr>
          <p:cNvPicPr>
            <a:picLocks xmlns:a="http://schemas.openxmlformats.org/drawingml/2006/main" noChangeAspect="1"/>
          </p:cNvPicPr>
          <p:nvPr/>
        </p:nvPicPr>
        <p:blipFill>
          <a:blip xmlns:r="http://schemas.openxmlformats.org/officeDocument/2006/relationships" xmlns:a="http://schemas.openxmlformats.org/drawingml/2006/main" r:embed="R946fd6dbf63141d8"/>
          <a:stretch xmlns:a="http://schemas.openxmlformats.org/drawingml/2006/main"/>
        </p:blipFill>
        <p:spPr>
          <a:xfrm xmlns:a="http://schemas.openxmlformats.org/drawingml/2006/main">
            <a:off x="613327" y="1362075"/>
            <a:ext cx="10908196" cy="4181475"/>
          </a:xfrm>
          <a:prstGeom xmlns:a="http://schemas.openxmlformats.org/drawingml/2006/main" prst="rect">
            <a:avLst/>
          </a:prstGeom>
        </p:spPr>
      </p:pic>
      <p:sp>
        <p:nvSpPr>
          <p:cNvPr id="4" name="search-takeaway">
            <a:extLst xmlns:a="http://schemas.openxmlformats.org/drawingml/2006/main">
              <a:ext uri="{FF2B5EF4-FFF2-40B4-BE49-F238E27FC236}">
                <a16:creationId xmlns:a16="http://schemas.microsoft.com/office/drawing/2014/main" id="{D73BF49C-B53A-40A3-9C3C-7BB1FBA0FC80}"/>
              </a:ext>
            </a:extLst>
          </p:cNvPr>
          <p:cNvSpPr>
            <a:spLocks xmlns:a="http://schemas.openxmlformats.org/drawingml/2006/main" noGrp="1"/>
          </p:cNvSpPr>
          <p:nvPr/>
        </p:nvSpPr>
        <p:spPr>
          <a:xfrm xmlns:a="http://schemas.openxmlformats.org/drawingml/2006/main">
            <a:off x="590550" y="5838825"/>
            <a:ext cx="1081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7324D"/>
                </a:solidFill>
                <a:latin typeface="Arial"/>
                <a:ea typeface="Arial"/>
                <a:cs typeface="Arial"/>
              </a:defRPr>
            </a:defPPr>
          </a:lstStyle>
          <a:p xmlns:a="http://schemas.openxmlformats.org/drawingml/2006/main">
            <a:pPr>
              <a:defRPr sz="1725" b="1">
                <a:solidFill>
                  <a:srgbClr val="17324D"/>
                </a:solidFill>
                <a:latin typeface="Arial"/>
                <a:ea typeface="Arial"/>
                <a:cs typeface="Arial"/>
              </a:defRPr>
            </a:pPr>
            <a:r>
              <a:rPr sz="1725" b="1">
                <a:solidFill>
                  <a:srgbClr val="17324D"/>
                </a:solidFill>
                <a:latin typeface="Arial"/>
                <a:ea typeface="Arial"/>
                <a:cs typeface="Arial"/>
              </a:rPr>
              <a:t>0 supported MAG BGCs; 3 near-known canonical BGCs belong to cell cultures.</a:t>
            </a:r>
          </a:p>
        </p:txBody>
      </p:sp>
    </p:spTree>
    <p:extLst>
      <p:ext uri="{BB962C8B-B14F-4D97-AF65-F5344CB8AC3E}">
        <p14:creationId xmlns:p14="http://schemas.microsoft.com/office/powerpoint/2010/main" val="1269823929"/>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title-4">
            <a:extLst xmlns:a="http://schemas.openxmlformats.org/drawingml/2006/main">
              <a:ext uri="{FF2B5EF4-FFF2-40B4-BE49-F238E27FC236}">
                <a16:creationId xmlns:a16="http://schemas.microsoft.com/office/drawing/2014/main" id="{77D4093A-3104-4341-9C7C-E5BCB79376F6}"/>
              </a:ext>
            </a:extLst>
          </p:cNvPr>
          <p:cNvSpPr>
            <a:spLocks xmlns:a="http://schemas.openxmlformats.org/drawingml/2006/main" noGrp="1"/>
          </p:cNvSpPr>
          <p:nvPr/>
        </p:nvSpPr>
        <p:spPr>
          <a:xfrm xmlns:a="http://schemas.openxmlformats.org/drawingml/2006/main">
            <a:off x="590550" y="457200"/>
            <a:ext cx="11001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75" b="1">
                <a:solidFill>
                  <a:srgbClr val="17324D"/>
                </a:solidFill>
                <a:latin typeface="Arial"/>
                <a:ea typeface="Arial"/>
                <a:cs typeface="Arial"/>
              </a:defRPr>
            </a:defPPr>
          </a:lstStyle>
          <a:p xmlns:a="http://schemas.openxmlformats.org/drawingml/2006/main">
            <a:pPr>
              <a:defRPr sz="2775" b="1">
                <a:solidFill>
                  <a:srgbClr val="17324D"/>
                </a:solidFill>
                <a:latin typeface="Arial"/>
                <a:ea typeface="Arial"/>
                <a:cs typeface="Arial"/>
              </a:defRPr>
            </a:pPr>
            <a:r>
              <a:rPr sz="2775" b="1">
                <a:solidFill>
                  <a:srgbClr val="17324D"/>
                </a:solidFill>
                <a:latin typeface="Arial"/>
                <a:ea typeface="Arial"/>
                <a:cs typeface="Arial"/>
              </a:rPr>
              <a:t>HGT result: host-order constraint not rejected</a:t>
            </a:r>
          </a:p>
        </p:txBody>
      </p:sp>
      <p:sp>
        <p:nvSpPr>
          <p:cNvPr id="2" name="number-4">
            <a:extLst xmlns:a="http://schemas.openxmlformats.org/drawingml/2006/main">
              <a:ext uri="{FF2B5EF4-FFF2-40B4-BE49-F238E27FC236}">
                <a16:creationId xmlns:a16="http://schemas.microsoft.com/office/drawing/2014/main" id="{4B4BBD52-5A10-401D-8C0E-C20E8DB89961}"/>
              </a:ext>
            </a:extLst>
          </p:cNvPr>
          <p:cNvSpPr>
            <a:spLocks xmlns:a="http://schemas.openxmlformats.org/drawingml/2006/main" noGrp="1"/>
          </p:cNvSpPr>
          <p:nvPr/>
        </p:nvSpPr>
        <p:spPr>
          <a:xfrm xmlns:a="http://schemas.openxmlformats.org/drawingml/2006/main">
            <a:off x="10858500" y="64389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0">
                <a:solidFill>
                  <a:srgbClr val="70818B"/>
                </a:solidFill>
                <a:latin typeface="Arial"/>
                <a:ea typeface="Arial"/>
                <a:cs typeface="Arial"/>
              </a:defRPr>
            </a:defPPr>
          </a:lstStyle>
          <a:p xmlns:a="http://schemas.openxmlformats.org/drawingml/2006/main">
            <a:pPr>
              <a:defRPr sz="1050" b="0">
                <a:solidFill>
                  <a:srgbClr val="70818B"/>
                </a:solidFill>
                <a:latin typeface="Arial"/>
                <a:ea typeface="Arial"/>
                <a:cs typeface="Arial"/>
              </a:defRPr>
            </a:pPr>
            <a:r>
              <a:rPr sz="1050" b="0">
                <a:solidFill>
                  <a:srgbClr val="70818B"/>
                </a:solidFill>
                <a:latin typeface="Arial"/>
                <a:ea typeface="Arial"/>
                <a:cs typeface="Arial"/>
              </a:rPr>
              <a:t>4 / 4</a:t>
            </a:r>
          </a:p>
        </p:txBody>
      </p:sp>
      <p:sp>
        <p:nvSpPr>
          <p:cNvPr id="3" name="host">
            <a:extLst xmlns:a="http://schemas.openxmlformats.org/drawingml/2006/main">
              <a:ext uri="{FF2B5EF4-FFF2-40B4-BE49-F238E27FC236}">
                <a16:creationId xmlns:a16="http://schemas.microsoft.com/office/drawing/2014/main" id="{F2948685-BBB6-4E13-813A-CDEAE2269CBA}"/>
              </a:ext>
            </a:extLst>
          </p:cNvPr>
          <p:cNvSpPr>
            <a:spLocks xmlns:a="http://schemas.openxmlformats.org/drawingml/2006/main" noGrp="1"/>
          </p:cNvSpPr>
          <p:nvPr/>
        </p:nvSpPr>
        <p:spPr>
          <a:xfrm xmlns:a="http://schemas.openxmlformats.org/drawingml/2006/main">
            <a:off x="590550" y="13144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187D8F"/>
                </a:solidFill>
                <a:latin typeface="Arial"/>
                <a:ea typeface="Arial"/>
                <a:cs typeface="Arial"/>
              </a:defRPr>
            </a:defPPr>
          </a:lstStyle>
          <a:p xmlns:a="http://schemas.openxmlformats.org/drawingml/2006/main">
            <a:pPr>
              <a:defRPr sz="1725" b="0">
                <a:solidFill>
                  <a:srgbClr val="187D8F"/>
                </a:solidFill>
                <a:latin typeface="Arial"/>
                <a:ea typeface="Arial"/>
                <a:cs typeface="Arial"/>
              </a:defRPr>
            </a:pPr>
            <a:r>
              <a:rPr sz="1725" b="0">
                <a:solidFill>
                  <a:srgbClr val="187D8F"/>
                </a:solidFill>
                <a:latin typeface="Arial"/>
                <a:ea typeface="Arial"/>
                <a:cs typeface="Arial"/>
              </a:rPr>
              <a:t>Host-order split: SH-aLRT / UFBoot 100 / 100</a:t>
            </a:r>
          </a:p>
        </p:txBody>
      </p:sp>
      <p:graphicFrame>
        <p:nvGraphicFramePr>
          <p:cNvPr id="4" name="">
            <a:extLst xmlns:a="http://schemas.openxmlformats.org/drawingml/2006/main">
              <a:ext uri="{FF2B5EF4-FFF2-40B4-BE49-F238E27FC236}">
                <a16:creationId xmlns:a16="http://schemas.microsoft.com/office/drawing/2014/main" id="{7248BE06-F7F6-4FDB-875A-695B630336AF}"/>
              </a:ext>
            </a:extLst>
          </p:cNvPr>
          <p:cNvGraphicFramePr/>
          <p:nvPr/>
        </p:nvGraphicFramePr>
        <p:xfrm>
          <a:off xmlns:a="http://schemas.openxmlformats.org/drawingml/2006/main" x="590550" y="2028825"/>
          <a:ext xmlns:a="http://schemas.openxmlformats.org/drawingml/2006/main" cx="7477125" cy="2619375"/>
        </p:xfrm>
        <a:graphic xmlns:a="http://schemas.openxmlformats.org/drawingml/2006/main">
          <a:graphicData uri="http://schemas.openxmlformats.org/drawingml/2006/table">
            <a:tbl>
              <a:tblPr firstRow="1"/>
              <a:tblGrid>
                <a:gridCol w="2492375"/>
                <a:gridCol w="2492375"/>
                <a:gridCol w="2492375"/>
              </a:tblGrid>
              <a:tr h="523875">
                <a:tc>
                  <a:txBody>
                    <a:bodyPr/>
                    <a:lstStyle/>
                    <a:p>
                      <a:r>
                        <a:rPr sz="1350" b="1">
                          <a:solidFill>
                            <a:srgbClr val="17324D"/>
                          </a:solidFill>
                          <a:latin typeface="Arial"/>
                          <a:ea typeface="Arial"/>
                          <a:cs typeface="Arial"/>
                        </a:rPr>
                        <a:t>Gene</a:t>
                      </a:r>
                    </a:p>
                  </a:txBody>
                  <a:tcPr marL="91440" marR="91440" marT="45720" marB="45720">
                    <a:solidFill>
                      <a:srgbClr val="DDEDED"/>
                    </a:solidFill>
                  </a:tcPr>
                </a:tc>
                <a:tc>
                  <a:txBody>
                    <a:bodyPr/>
                    <a:lstStyle/>
                    <a:p>
                      <a:r>
                        <a:rPr sz="1350" b="1">
                          <a:solidFill>
                            <a:srgbClr val="17324D"/>
                          </a:solidFill>
                          <a:latin typeface="Arial"/>
                          <a:ea typeface="Arial"/>
                          <a:cs typeface="Arial"/>
                        </a:rPr>
                        <a:t>AU p for order constraint</a:t>
                      </a:r>
                    </a:p>
                  </a:txBody>
                  <a:tcPr marL="91440" marR="91440" marT="45720" marB="45720">
                    <a:solidFill>
                      <a:srgbClr val="DDEDED"/>
                    </a:solidFill>
                  </a:tcPr>
                </a:tc>
                <a:tc>
                  <a:txBody>
                    <a:bodyPr/>
                    <a:lstStyle/>
                    <a:p>
                      <a:r>
                        <a:rPr sz="1350" b="1">
                          <a:solidFill>
                            <a:srgbClr val="17324D"/>
                          </a:solidFill>
                          <a:latin typeface="Arial"/>
                          <a:ea typeface="Arial"/>
                          <a:cs typeface="Arial"/>
                        </a:rPr>
                        <a:t>Composition failures</a:t>
                      </a:r>
                    </a:p>
                  </a:txBody>
                  <a:tcPr marL="91440" marR="91440" marT="45720" marB="45720">
                    <a:solidFill>
                      <a:srgbClr val="DDEDED"/>
                    </a:solidFill>
                  </a:tcPr>
                </a:tc>
              </a:tr>
              <a:tr h="523875">
                <a:tc>
                  <a:txBody>
                    <a:bodyPr/>
                    <a:lstStyle/>
                    <a:p>
                      <a:r>
                        <a:rPr sz="1425">
                          <a:solidFill>
                            <a:srgbClr val="17324D"/>
                          </a:solidFill>
                          <a:latin typeface="Arial"/>
                          <a:ea typeface="Arial"/>
                          <a:cs typeface="Arial"/>
                        </a:rPr>
                        <a:t>B1</a:t>
                      </a:r>
                    </a:p>
                  </a:txBody>
                  <a:tcPr marL="91440" marR="91440" marT="45720" marB="45720"/>
                </a:tc>
                <a:tc>
                  <a:txBody>
                    <a:bodyPr/>
                    <a:lstStyle/>
                    <a:p>
                      <a:r>
                        <a:rPr sz="1425">
                          <a:solidFill>
                            <a:srgbClr val="17324D"/>
                          </a:solidFill>
                          <a:latin typeface="Arial"/>
                          <a:ea typeface="Arial"/>
                          <a:cs typeface="Arial"/>
                        </a:rPr>
                        <a:t>0.323</a:t>
                      </a:r>
                    </a:p>
                  </a:txBody>
                  <a:tcPr marL="91440" marR="91440" marT="45720" marB="45720"/>
                </a:tc>
                <a:tc>
                  <a:txBody>
                    <a:bodyPr/>
                    <a:lstStyle/>
                    <a:p>
                      <a:r>
                        <a:rPr sz="1425">
                          <a:solidFill>
                            <a:srgbClr val="17324D"/>
                          </a:solidFill>
                          <a:latin typeface="Arial"/>
                          <a:ea typeface="Arial"/>
                          <a:cs typeface="Arial"/>
                        </a:rPr>
                        <a:t>0 / 14</a:t>
                      </a:r>
                    </a:p>
                  </a:txBody>
                  <a:tcPr marL="91440" marR="91440" marT="45720" marB="45720"/>
                </a:tc>
              </a:tr>
              <a:tr h="523875">
                <a:tc>
                  <a:txBody>
                    <a:bodyPr/>
                    <a:lstStyle/>
                    <a:p>
                      <a:r>
                        <a:rPr sz="1425">
                          <a:solidFill>
                            <a:srgbClr val="17324D"/>
                          </a:solidFill>
                          <a:latin typeface="Arial"/>
                          <a:ea typeface="Arial"/>
                          <a:cs typeface="Arial"/>
                        </a:rPr>
                        <a:t>B2</a:t>
                      </a:r>
                    </a:p>
                  </a:txBody>
                  <a:tcPr marL="91440" marR="91440" marT="45720" marB="45720"/>
                </a:tc>
                <a:tc>
                  <a:txBody>
                    <a:bodyPr/>
                    <a:lstStyle/>
                    <a:p>
                      <a:r>
                        <a:rPr sz="1425">
                          <a:solidFill>
                            <a:srgbClr val="17324D"/>
                          </a:solidFill>
                          <a:latin typeface="Arial"/>
                          <a:ea typeface="Arial"/>
                          <a:cs typeface="Arial"/>
                        </a:rPr>
                        <a:t>0.337</a:t>
                      </a:r>
                    </a:p>
                  </a:txBody>
                  <a:tcPr marL="91440" marR="91440" marT="45720" marB="45720"/>
                </a:tc>
                <a:tc>
                  <a:txBody>
                    <a:bodyPr/>
                    <a:lstStyle/>
                    <a:p>
                      <a:r>
                        <a:rPr sz="1425">
                          <a:solidFill>
                            <a:srgbClr val="17324D"/>
                          </a:solidFill>
                          <a:latin typeface="Arial"/>
                          <a:ea typeface="Arial"/>
                          <a:cs typeface="Arial"/>
                        </a:rPr>
                        <a:t>2 / 14</a:t>
                      </a:r>
                    </a:p>
                  </a:txBody>
                  <a:tcPr marL="91440" marR="91440" marT="45720" marB="45720"/>
                </a:tc>
              </a:tr>
              <a:tr h="523875">
                <a:tc>
                  <a:txBody>
                    <a:bodyPr/>
                    <a:lstStyle/>
                    <a:p>
                      <a:r>
                        <a:rPr sz="1425">
                          <a:solidFill>
                            <a:srgbClr val="17324D"/>
                          </a:solidFill>
                          <a:latin typeface="Arial"/>
                          <a:ea typeface="Arial"/>
                          <a:cs typeface="Arial"/>
                        </a:rPr>
                        <a:t>C</a:t>
                      </a:r>
                    </a:p>
                  </a:txBody>
                  <a:tcPr marL="91440" marR="91440" marT="45720" marB="45720"/>
                </a:tc>
                <a:tc>
                  <a:txBody>
                    <a:bodyPr/>
                    <a:lstStyle/>
                    <a:p>
                      <a:r>
                        <a:rPr sz="1425">
                          <a:solidFill>
                            <a:srgbClr val="17324D"/>
                          </a:solidFill>
                          <a:latin typeface="Arial"/>
                          <a:ea typeface="Arial"/>
                          <a:cs typeface="Arial"/>
                        </a:rPr>
                        <a:t>Free tree compatible</a:t>
                      </a:r>
                    </a:p>
                  </a:txBody>
                  <a:tcPr marL="91440" marR="91440" marT="45720" marB="45720"/>
                </a:tc>
                <a:tc>
                  <a:txBody>
                    <a:bodyPr/>
                    <a:lstStyle/>
                    <a:p>
                      <a:r>
                        <a:rPr sz="1425">
                          <a:solidFill>
                            <a:srgbClr val="17324D"/>
                          </a:solidFill>
                          <a:latin typeface="Arial"/>
                          <a:ea typeface="Arial"/>
                          <a:cs typeface="Arial"/>
                        </a:rPr>
                        <a:t>13 / 14</a:t>
                      </a:r>
                    </a:p>
                  </a:txBody>
                  <a:tcPr marL="91440" marR="91440" marT="45720" marB="45720"/>
                </a:tc>
              </a:tr>
              <a:tr h="523875">
                <a:tc>
                  <a:txBody>
                    <a:bodyPr/>
                    <a:lstStyle/>
                    <a:p>
                      <a:r>
                        <a:rPr sz="1425">
                          <a:solidFill>
                            <a:srgbClr val="17324D"/>
                          </a:solidFill>
                          <a:latin typeface="Arial"/>
                          <a:ea typeface="Arial"/>
                          <a:cs typeface="Arial"/>
                        </a:rPr>
                        <a:t>D</a:t>
                      </a:r>
                    </a:p>
                  </a:txBody>
                  <a:tcPr marL="91440" marR="91440" marT="45720" marB="45720"/>
                </a:tc>
                <a:tc>
                  <a:txBody>
                    <a:bodyPr/>
                    <a:lstStyle/>
                    <a:p>
                      <a:r>
                        <a:rPr sz="1425">
                          <a:solidFill>
                            <a:srgbClr val="17324D"/>
                          </a:solidFill>
                          <a:latin typeface="Arial"/>
                          <a:ea typeface="Arial"/>
                          <a:cs typeface="Arial"/>
                        </a:rPr>
                        <a:t>0.432</a:t>
                      </a:r>
                    </a:p>
                  </a:txBody>
                  <a:tcPr marL="91440" marR="91440" marT="45720" marB="45720"/>
                </a:tc>
                <a:tc>
                  <a:txBody>
                    <a:bodyPr/>
                    <a:lstStyle/>
                    <a:p>
                      <a:r>
                        <a:rPr sz="1425">
                          <a:solidFill>
                            <a:srgbClr val="17324D"/>
                          </a:solidFill>
                          <a:latin typeface="Arial"/>
                          <a:ea typeface="Arial"/>
                          <a:cs typeface="Arial"/>
                        </a:rPr>
                        <a:t>13 / 14</a:t>
                      </a:r>
                    </a:p>
                  </a:txBody>
                  <a:tcPr marL="91440" marR="91440" marT="45720" marB="45720"/>
                </a:tc>
              </a:tr>
            </a:tbl>
          </a:graphicData>
        </a:graphic>
      </p:graphicFrame>
      <p:sp>
        <p:nvSpPr>
          <p:cNvPr id="5" name="conclusion">
            <a:extLst xmlns:a="http://schemas.openxmlformats.org/drawingml/2006/main">
              <a:ext uri="{FF2B5EF4-FFF2-40B4-BE49-F238E27FC236}">
                <a16:creationId xmlns:a16="http://schemas.microsoft.com/office/drawing/2014/main" id="{94C237E3-BF0D-47B7-9C08-F617CB363903}"/>
              </a:ext>
            </a:extLst>
          </p:cNvPr>
          <p:cNvSpPr>
            <a:spLocks xmlns:a="http://schemas.openxmlformats.org/drawingml/2006/main" noGrp="1"/>
          </p:cNvSpPr>
          <p:nvPr/>
        </p:nvSpPr>
        <p:spPr>
          <a:xfrm xmlns:a="http://schemas.openxmlformats.org/drawingml/2006/main">
            <a:off x="590550" y="49911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7324D"/>
                </a:solidFill>
                <a:latin typeface="Arial"/>
                <a:ea typeface="Arial"/>
                <a:cs typeface="Arial"/>
              </a:defRPr>
            </a:defPPr>
          </a:lstStyle>
          <a:p xmlns:a="http://schemas.openxmlformats.org/drawingml/2006/main">
            <a:pPr>
              <a:defRPr sz="2175" b="1">
                <a:solidFill>
                  <a:srgbClr val="17324D"/>
                </a:solidFill>
                <a:latin typeface="Arial"/>
                <a:ea typeface="Arial"/>
                <a:cs typeface="Arial"/>
              </a:defRPr>
            </a:pPr>
            <a:r>
              <a:rPr sz="2175" b="1">
                <a:solidFill>
                  <a:srgbClr val="17324D"/>
                </a:solidFill>
                <a:latin typeface="Arial"/>
                <a:ea typeface="Arial"/>
                <a:cs typeface="Arial"/>
              </a:rPr>
              <a:t>HGT remains possible, but is not established in this case.</a:t>
            </a:r>
          </a:p>
        </p:txBody>
      </p:sp>
      <p:sp>
        <p:nvSpPr>
          <p:cNvPr id="6" name="limits">
            <a:extLst xmlns:a="http://schemas.openxmlformats.org/drawingml/2006/main">
              <a:ext uri="{FF2B5EF4-FFF2-40B4-BE49-F238E27FC236}">
                <a16:creationId xmlns:a16="http://schemas.microsoft.com/office/drawing/2014/main" id="{1CCB3978-AF2F-41B6-9517-6F910993089A}"/>
              </a:ext>
            </a:extLst>
          </p:cNvPr>
          <p:cNvSpPr>
            <a:spLocks xmlns:a="http://schemas.openxmlformats.org/drawingml/2006/main" noGrp="1"/>
          </p:cNvSpPr>
          <p:nvPr/>
        </p:nvSpPr>
        <p:spPr>
          <a:xfrm xmlns:a="http://schemas.openxmlformats.org/drawingml/2006/main">
            <a:off x="590550" y="5800725"/>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3C5367"/>
                </a:solidFill>
                <a:latin typeface="Arial"/>
                <a:ea typeface="Arial"/>
                <a:cs typeface="Arial"/>
              </a:defRPr>
            </a:defPPr>
          </a:lstStyle>
          <a:p xmlns:a="http://schemas.openxmlformats.org/drawingml/2006/main">
            <a:pPr>
              <a:defRPr sz="1425" b="0">
                <a:solidFill>
                  <a:srgbClr val="3C5367"/>
                </a:solidFill>
                <a:latin typeface="Arial"/>
                <a:ea typeface="Arial"/>
                <a:cs typeface="Arial"/>
              </a:defRPr>
            </a:pPr>
            <a:r>
              <a:rPr sz="1425" b="0">
                <a:solidFill>
                  <a:srgbClr val="3C5367"/>
                </a:solidFill>
                <a:latin typeface="Arial"/>
                <a:ea typeface="Arial"/>
                <a:cs typeface="Arial"/>
              </a:rPr>
              <a:t>Short B1/B2 alignments and composition bias limit interpretation. H₀ is not proven.</a:t>
            </a:r>
          </a:p>
        </p:txBody>
      </p:sp>
    </p:spTree>
    <p:extLst>
      <p:ext uri="{BB962C8B-B14F-4D97-AF65-F5344CB8AC3E}">
        <p14:creationId xmlns:p14="http://schemas.microsoft.com/office/powerpoint/2010/main" val="11583538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2026-10-08T11:10:14.3100000Z</dcterms:created>
  <dcterms:modified xsi:type="dcterms:W3CDTF">2026-10-08T11:10:14.3100000Z</dcterms:modified>
</coreProperties>
</file>